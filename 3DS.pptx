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92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1" r:id="rId16"/>
    <p:sldId id="32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5029BB-56E2-4388-8A83-9C36475ED742}" v="28" dt="2025-12-10T19:59:10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81577" autoAdjust="0"/>
  </p:normalViewPr>
  <p:slideViewPr>
    <p:cSldViewPr snapToGrid="0">
      <p:cViewPr varScale="1">
        <p:scale>
          <a:sx n="78" d="100"/>
          <a:sy n="78" d="100"/>
        </p:scale>
        <p:origin x="590" y="5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 SINGH" userId="5b6df1735d97be05" providerId="LiveId" clId="{BCE12ADE-1C14-471F-9AE0-E616C3FC984A}"/>
    <pc:docChg chg="modSld">
      <pc:chgData name="ARYAN SINGH" userId="5b6df1735d97be05" providerId="LiveId" clId="{BCE12ADE-1C14-471F-9AE0-E616C3FC984A}" dt="2025-12-10T20:20:53.260" v="22" actId="1036"/>
      <pc:docMkLst>
        <pc:docMk/>
      </pc:docMkLst>
      <pc:sldChg chg="modSp mod modNotesTx">
        <pc:chgData name="ARYAN SINGH" userId="5b6df1735d97be05" providerId="LiveId" clId="{BCE12ADE-1C14-471F-9AE0-E616C3FC984A}" dt="2025-12-10T20:20:53.260" v="22" actId="1036"/>
        <pc:sldMkLst>
          <pc:docMk/>
          <pc:sldMk cId="2152082915" sldId="292"/>
        </pc:sldMkLst>
        <pc:spChg chg="mod">
          <ac:chgData name="ARYAN SINGH" userId="5b6df1735d97be05" providerId="LiveId" clId="{BCE12ADE-1C14-471F-9AE0-E616C3FC984A}" dt="2025-12-10T20:19:37.343" v="20" actId="20577"/>
          <ac:spMkLst>
            <pc:docMk/>
            <pc:sldMk cId="2152082915" sldId="292"/>
            <ac:spMk id="2" creationId="{C0D7398C-75E5-4CB0-BA4F-D7D5CF2495D4}"/>
          </ac:spMkLst>
        </pc:spChg>
        <pc:picChg chg="mod">
          <ac:chgData name="ARYAN SINGH" userId="5b6df1735d97be05" providerId="LiveId" clId="{BCE12ADE-1C14-471F-9AE0-E616C3FC984A}" dt="2025-12-10T20:20:53.260" v="22" actId="1036"/>
          <ac:picMkLst>
            <pc:docMk/>
            <pc:sldMk cId="2152082915" sldId="292"/>
            <ac:picMk id="4" creationId="{62BA1780-A246-4C7F-9267-727EF2F4E785}"/>
          </ac:picMkLst>
        </pc:picChg>
      </pc:sldChg>
      <pc:sldChg chg="modNotesTx">
        <pc:chgData name="ARYAN SINGH" userId="5b6df1735d97be05" providerId="LiveId" clId="{BCE12ADE-1C14-471F-9AE0-E616C3FC984A}" dt="2025-12-10T19:59:10.383" v="14" actId="20577"/>
        <pc:sldMkLst>
          <pc:docMk/>
          <pc:sldMk cId="3355600643" sldId="310"/>
        </pc:sldMkLst>
      </pc:sldChg>
      <pc:sldChg chg="modNotesTx">
        <pc:chgData name="ARYAN SINGH" userId="5b6df1735d97be05" providerId="LiveId" clId="{BCE12ADE-1C14-471F-9AE0-E616C3FC984A}" dt="2025-12-10T19:24:18.676" v="2" actId="20577"/>
        <pc:sldMkLst>
          <pc:docMk/>
          <pc:sldMk cId="535119617" sldId="31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4F30B-974A-41D8-9BC6-BB7346A6EF1B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1C887-C003-40C1-B88D-EF575FFDE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47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This project presents a fully modular, interpretable driver drowsiness detection system.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Rather than relying on a single end-to-end model, we decompose the problem into four distinct machine learning tasks: face detection, facial </a:t>
            </a:r>
            <a:r>
              <a:rPr lang="en-US" dirty="0" err="1"/>
              <a:t>keypoint</a:t>
            </a:r>
            <a:r>
              <a:rPr lang="en-US" dirty="0"/>
              <a:t> regression, behavioral signal extraction, and temporal classification.</a:t>
            </a:r>
            <a:br>
              <a:rPr lang="en-US" dirty="0"/>
            </a:br>
            <a:r>
              <a:rPr lang="en-US" dirty="0"/>
              <a:t>This architecture gives us clarity, robustness, and controllability—qualities that are essential for safety-critical systems like in-cabin driver monitoring.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70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Our system follows a strict modular pipeline.</a:t>
            </a:r>
          </a:p>
          <a:p>
            <a:r>
              <a:rPr lang="en-US" b="1" dirty="0"/>
              <a:t>Task 1</a:t>
            </a:r>
            <a:r>
              <a:rPr lang="en-US" dirty="0"/>
              <a:t> uses </a:t>
            </a:r>
            <a:r>
              <a:rPr lang="en-US" dirty="0" err="1"/>
              <a:t>RetinaFace</a:t>
            </a:r>
            <a:r>
              <a:rPr lang="en-US" dirty="0"/>
              <a:t> for face detection. </a:t>
            </a:r>
            <a:r>
              <a:rPr lang="en-US" dirty="0" err="1"/>
              <a:t>RetinaFace</a:t>
            </a:r>
            <a:r>
              <a:rPr lang="en-US" dirty="0"/>
              <a:t> provides dense regression of bounding boxes and anchor landmarks using Focal Loss and Smooth L1, which is essential for handling the heavy class imbalance typical in object detection.</a:t>
            </a:r>
          </a:p>
          <a:p>
            <a:r>
              <a:rPr lang="en-US" b="1" dirty="0"/>
              <a:t>Task 2</a:t>
            </a:r>
            <a:r>
              <a:rPr lang="en-US" dirty="0"/>
              <a:t> uses a ResNet-18 backbone, initialized with ImageNet-1K pretrained weights, for 20 facial </a:t>
            </a:r>
            <a:r>
              <a:rPr lang="en-US" dirty="0" err="1"/>
              <a:t>keypoints</a:t>
            </a:r>
            <a:r>
              <a:rPr lang="en-US" dirty="0"/>
              <a:t> and per-landmark confidence. We intentionally reduce 68 standard landmarks to just the 20 that matter for EAR and MAR stability. MSE is used for coordinate regression, and our confidence-aware loss improves resilience to noisy predictions.</a:t>
            </a:r>
          </a:p>
          <a:p>
            <a:r>
              <a:rPr lang="en-US" b="1" dirty="0"/>
              <a:t>Task 3</a:t>
            </a:r>
            <a:r>
              <a:rPr lang="en-US" dirty="0"/>
              <a:t> converts these </a:t>
            </a:r>
            <a:r>
              <a:rPr lang="en-US" dirty="0" err="1"/>
              <a:t>keypoints</a:t>
            </a:r>
            <a:r>
              <a:rPr lang="en-US" dirty="0"/>
              <a:t> into geometric behavioral descriptors, EAR for eyelid aperture and MAR for mouth openness. From frame-level signals we compute per-second aggregated metrics such as median, max, and temporal fractions, which provide invariance to noise and short occlusions.</a:t>
            </a:r>
          </a:p>
          <a:p>
            <a:r>
              <a:rPr lang="en-US" b="1" dirty="0"/>
              <a:t>Task 4</a:t>
            </a:r>
            <a:r>
              <a:rPr lang="en-US" dirty="0"/>
              <a:t> takes these aggregated features and performs 5-second temporal classification using a Random Forest classifier. Temporal windows and threshold calibration allow us to reliably estimate p(drowsy_5s) and generate binary alarms.</a:t>
            </a:r>
          </a:p>
          <a:p>
            <a:r>
              <a:rPr lang="en-US" dirty="0"/>
              <a:t>This pipeline is deliberately interpretable, auditable, and cross-dataset-valid, an important requirement in driver safety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41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For Task 1, we experimented with FasterRCNN-ResNet18 as a baseline, but performance was insufficient in small-face and low-light cabin scenarios. </a:t>
            </a:r>
            <a:r>
              <a:rPr lang="en-US" dirty="0" err="1"/>
              <a:t>RetinaFace</a:t>
            </a:r>
            <a:r>
              <a:rPr lang="en-US" dirty="0"/>
              <a:t> provided much stronger localization performance due to its Feature Pyramid Network and dense anchor strategy.</a:t>
            </a:r>
          </a:p>
          <a:p>
            <a:r>
              <a:rPr lang="en-US" dirty="0"/>
              <a:t>We train/validate on WIDER-FACE and evaluate cross-dataset on FDDB to satisfy the “train on A, test on B” requirement.</a:t>
            </a:r>
            <a:br>
              <a:rPr lang="en-US" dirty="0"/>
            </a:br>
            <a:r>
              <a:rPr lang="en-US" dirty="0"/>
              <a:t>Focal Loss mitigates extreme background imbalance, while Smooth L1 stabilizes bounding-box regression.</a:t>
            </a:r>
          </a:p>
          <a:p>
            <a:r>
              <a:rPr lang="en-US" dirty="0"/>
              <a:t>We also visualized annotated WIDER-FACE samples to ensure the annotation loader and bounding-box generation were correct.</a:t>
            </a:r>
            <a:br>
              <a:rPr lang="en-US" dirty="0"/>
            </a:br>
            <a:r>
              <a:rPr lang="en-US" dirty="0"/>
              <a:t>The FN/FP error analysis helped identify performance bottlenecks such as occlusions, glasses reflections, and extreme head poses.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FALSE NEGATIVE 1 — Reflection on Table (Face Missed)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“This is labeled as a false negative because the detector fired on the </a:t>
            </a:r>
            <a:r>
              <a:rPr lang="en-US" i="1" dirty="0"/>
              <a:t>reflection</a:t>
            </a:r>
            <a:r>
              <a:rPr lang="en-US" dirty="0"/>
              <a:t> in the table surface instead of the actual face. Reflections invert the natural orientation and distort the facial geometry, so </a:t>
            </a:r>
            <a:r>
              <a:rPr lang="en-US" dirty="0" err="1"/>
              <a:t>RetinaFace</a:t>
            </a:r>
            <a:r>
              <a:rPr lang="en-US" dirty="0"/>
              <a:t> fails to recognize the real face in the scene. The real face is fully visible, but because the reflection creates a face-like pattern with different gradients and flipped structure, the model incorrectly ignores the true face.”</a:t>
            </a:r>
            <a:br>
              <a:rPr lang="en-US" dirty="0"/>
            </a:br>
            <a:r>
              <a:rPr lang="en-US" dirty="0"/>
              <a:t>“All four false negatives share limiting conditions: occlusion, extreme pose, reflections, and visually crowded backgrounds. These conditions remove or distort the facial geometry that </a:t>
            </a:r>
            <a:r>
              <a:rPr lang="en-US" dirty="0" err="1"/>
              <a:t>RetinaFace</a:t>
            </a:r>
            <a:r>
              <a:rPr lang="en-US" dirty="0"/>
              <a:t> expects, so the anchor-based detector fails to activate on real faces.”</a:t>
            </a:r>
          </a:p>
          <a:p>
            <a:br>
              <a:rPr lang="en-US" dirty="0"/>
            </a:br>
            <a:r>
              <a:rPr lang="en-US" b="1" dirty="0"/>
              <a:t>FALSE POSITIVE 1 — Blur Patch Mistaken as a Face (Tennis Court)</a:t>
            </a:r>
          </a:p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“This is a false positive because the blurred background patch has roughly face-like color and shape. When texture is washed out due to motion blur or shallow depth-of-field, </a:t>
            </a:r>
            <a:r>
              <a:rPr lang="en-US" dirty="0" err="1"/>
              <a:t>RetinaFace</a:t>
            </a:r>
            <a:r>
              <a:rPr lang="en-US" dirty="0"/>
              <a:t> sometimes misclassifies smooth elliptical blobs as faces, especially when they fall within the expected anchor size.”</a:t>
            </a:r>
          </a:p>
          <a:p>
            <a:r>
              <a:rPr lang="en-US" dirty="0"/>
              <a:t>“All four false positives happen because the detector picks up </a:t>
            </a:r>
            <a:r>
              <a:rPr lang="en-US" i="1" dirty="0"/>
              <a:t>face-like shapes</a:t>
            </a:r>
            <a:r>
              <a:rPr lang="en-US" dirty="0"/>
              <a:t>—small blobs, silhouettes, reflections, or objects with similar geometry. When resolution is low or textures are missing, </a:t>
            </a:r>
            <a:r>
              <a:rPr lang="en-US" dirty="0" err="1"/>
              <a:t>RetinaFace</a:t>
            </a:r>
            <a:r>
              <a:rPr lang="en-US" dirty="0"/>
              <a:t> mistakes these patterns for real faces.”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03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peaker</a:t>
            </a:r>
            <a:r>
              <a:rPr lang="en-US" b="1" dirty="0"/>
              <a:t> Notes:</a:t>
            </a:r>
            <a:br>
              <a:rPr lang="en-US" dirty="0"/>
            </a:br>
            <a:r>
              <a:rPr lang="en-US" dirty="0"/>
              <a:t>For landmark regression, we used the 300W dataset. Although it provides 68 facial landmarks, only 20 are needed for our application: 6 around each eye and 8 around the mouth. This reduces overfitting risk and improves generalizability.</a:t>
            </a:r>
          </a:p>
          <a:p>
            <a:r>
              <a:rPr lang="en-US" dirty="0"/>
              <a:t>Our ResNet-18 model was initialized with ImageNet-1K pretrained weights to leverage strong feature priors. With only ~600 images in 300W, pretraining is critical.</a:t>
            </a:r>
          </a:p>
          <a:p>
            <a:r>
              <a:rPr lang="en-US" dirty="0"/>
              <a:t>We also implemented a custom parser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.pts</a:t>
            </a:r>
            <a:r>
              <a:rPr lang="en-US" dirty="0"/>
              <a:t> files and ensured reproducibility by fixing random seeds.</a:t>
            </a:r>
          </a:p>
          <a:p>
            <a:r>
              <a:rPr lang="en-US" dirty="0"/>
              <a:t>The confidence-aware loss allows the network not only to predict coordinates but to express uncertainty—an essential capability when downstream features like EAR and MAR depend heavily on accurate geometry.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40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 transforms spatial information into behavioral signals.</a:t>
            </a:r>
          </a:p>
          <a:p>
            <a:r>
              <a:rPr lang="en-US" dirty="0"/>
              <a:t>Using the predicted </a:t>
            </a:r>
            <a:r>
              <a:rPr lang="en-US" dirty="0" err="1"/>
              <a:t>keypoints</a:t>
            </a:r>
            <a:r>
              <a:rPr lang="en-US" dirty="0"/>
              <a:t>, we compute EAR and MAR for every frame. EAR measures eyelid opening and is highly sensitive to fatigue-related blinking patterns. MAR measures mouth opening and serves as a proxy for yawning amplitude.</a:t>
            </a:r>
          </a:p>
          <a:p>
            <a:r>
              <a:rPr lang="en-US" dirty="0"/>
              <a:t>We aligned each frame to its timestamp by decoding frame indices from filenames—important for mapping frames to per-second and per-window temporal features.</a:t>
            </a:r>
          </a:p>
          <a:p>
            <a:r>
              <a:rPr lang="en-US" dirty="0"/>
              <a:t>This step produces a rich time series of eye-closure probabilities and mouth-opening signals that feed into our temporal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96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Using the EAR/MAR thresholds tuned on validation sequences, we obtain frame-level classification of eye-closure and yawn events.</a:t>
            </a:r>
          </a:p>
          <a:p>
            <a:r>
              <a:rPr lang="en-US" dirty="0"/>
              <a:t>We observe different performance patterns for drowsy versus non-drowsy segments. Eye detection tends to be more accurate in alert frames because eyelids are fully open; in drowsy cases, partial closures are more ambiguous.</a:t>
            </a:r>
          </a:p>
          <a:p>
            <a:r>
              <a:rPr lang="en-US" dirty="0"/>
              <a:t>Yawn detection is more challenging across both categories due to lighting variation, occlusions, and mouth shape differences. However, because downstream temporal aggregation smooths this noise, even moderate per-frame accuracy is sufficient for strong 5-second drowsiness detection.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44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drowsiness classification, we aggregate Task 3 outputs into 5-second windows. These windows capture trends, not instantaneous events, which is crucial because drowsiness evolves gradually.</a:t>
            </a:r>
          </a:p>
          <a:p>
            <a:r>
              <a:rPr lang="en-US" dirty="0"/>
              <a:t>We compared logistic regression, SVM, gradient boosting, and LSTM. The LSTM achieved excellent validation performance but overfitted and did not generalize well to cross-session data.</a:t>
            </a:r>
          </a:p>
          <a:p>
            <a:r>
              <a:rPr lang="en-US" dirty="0"/>
              <a:t>Random Forest provided the best balance of interpretability, robustness, and temporal discrimination.</a:t>
            </a:r>
            <a:br>
              <a:rPr lang="en-US" dirty="0"/>
            </a:br>
            <a:r>
              <a:rPr lang="en-US" dirty="0"/>
              <a:t>It models non-linear relationships between features like median eye closure, peak yawn intensity, and the temporal fraction of frames with closed eyes.</a:t>
            </a:r>
          </a:p>
          <a:p>
            <a:r>
              <a:rPr lang="en-US" dirty="0"/>
              <a:t>Threshold calibration on the validation set yields the alarm logic used in the final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39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Notes:</a:t>
            </a:r>
            <a:br>
              <a:rPr lang="en-US" dirty="0"/>
            </a:br>
            <a:r>
              <a:rPr lang="en-US" dirty="0"/>
              <a:t>Each loss function directly aligns with its task’s requirements.</a:t>
            </a:r>
          </a:p>
          <a:p>
            <a:r>
              <a:rPr lang="en-US" dirty="0"/>
              <a:t>Focal Loss + Smooth L1 for face detection addresses extreme class imbalance and stabilizes bounding-box regression.</a:t>
            </a:r>
          </a:p>
          <a:p>
            <a:r>
              <a:rPr lang="en-US" dirty="0"/>
              <a:t>MSE + Confidence-Aware Loss for </a:t>
            </a:r>
            <a:r>
              <a:rPr lang="en-US" dirty="0" err="1"/>
              <a:t>keypoints</a:t>
            </a:r>
            <a:r>
              <a:rPr lang="en-US" dirty="0"/>
              <a:t> allow sub-pixel accuracy while providing the network a mechanism to down-weight uncertain predictions.</a:t>
            </a:r>
          </a:p>
          <a:p>
            <a:r>
              <a:rPr lang="en-US" dirty="0"/>
              <a:t>BCE for eye/yawn classification is the natural choice for probabilistic binary decisions.</a:t>
            </a:r>
          </a:p>
          <a:p>
            <a:r>
              <a:rPr lang="en-US" dirty="0"/>
              <a:t>Finally, BCE/Gini Impurity for temporal modeling aligns with the Random Forest’s splitting criterion and provides well-calibrated probabilities for thresholding.</a:t>
            </a:r>
          </a:p>
          <a:p>
            <a:r>
              <a:rPr lang="en-US" dirty="0"/>
              <a:t>This combination ensures consistent gradient behavior, interpretability, and robustness across the entire pipeline.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21C887-C003-40C1-B88D-EF575FFDECC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97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1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46"/>
          <a:stretch/>
        </p:blipFill>
        <p:spPr>
          <a:xfrm>
            <a:off x="21" y="13970"/>
            <a:ext cx="12191979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134" y="2058026"/>
            <a:ext cx="5694911" cy="2597139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 DROWSINESS DETECTION SYSTEM</a:t>
            </a:r>
            <a:br>
              <a:rPr lang="en-US" sz="2800" dirty="0">
                <a:solidFill>
                  <a:schemeClr val="tx1"/>
                </a:solidFill>
              </a:rPr>
            </a:b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Aryan Meena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U41361555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1" y="4262081"/>
            <a:ext cx="4775075" cy="559656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METCS767, Dr. Farshid Alizadeh-Shabdiz</a:t>
            </a:r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8808-6837-39EF-957F-B38ECBCC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E932-FA8C-6340-3F6B-3126DB1AE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Face Detection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RetineFace,, Bounding Box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Focal + Smooth L1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Facial Key point Regression (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Resnet-18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key points + confidence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MSE + Confidence-aware Loss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EAR/MAR Feature Extraction + Eye/Yawn State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Per-second aggregation metrics (Median, max, fraction, MAR stats, yawn counts)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4:Temporal Drowsiness Modeling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and probability for drowsiness</a:t>
            </a:r>
          </a:p>
        </p:txBody>
      </p:sp>
    </p:spTree>
    <p:extLst>
      <p:ext uri="{BB962C8B-B14F-4D97-AF65-F5344CB8AC3E}">
        <p14:creationId xmlns:p14="http://schemas.microsoft.com/office/powerpoint/2010/main" val="3355600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C3BAE-2D8D-EB6E-C9F1-10DAF0E7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1304-DFED-E9A5-EB89-86AD5A26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Face Detection (</a:t>
            </a:r>
            <a:r>
              <a:rPr lang="en-US" dirty="0" err="1"/>
              <a:t>RetinaFace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2E59-635B-4A98-C0B6-4E8F50FB8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WIDER-Face Dataset and FDDB dataset to train/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Test respectively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Functions: Focal Loss and Smooth L1 Loss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after experimenting with FasterRCNN-ResNet18,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WIDERFACE Dataset was annotated and visualized</a:t>
            </a:r>
          </a:p>
        </p:txBody>
      </p:sp>
      <p:pic>
        <p:nvPicPr>
          <p:cNvPr id="5" name="Picture 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A70EDBE0-A55E-7FF3-0C4A-30410F8E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77" y="3869851"/>
            <a:ext cx="6150589" cy="157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2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2892C-6B39-FE37-53B2-DCEA44E9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5BD9-7279-9572-8664-977BC3D1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FN &amp; FP Cases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A67FEF-D0DF-7F28-88BE-F5A62FE19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0" y="1828463"/>
            <a:ext cx="3930080" cy="39300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735B5C-6C25-6728-0AF4-8369F1BC2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506" y="1828463"/>
            <a:ext cx="3930080" cy="3930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915B3-70E1-D4D9-D6A1-A35D33A5C4DE}"/>
              </a:ext>
            </a:extLst>
          </p:cNvPr>
          <p:cNvSpPr txBox="1"/>
          <p:nvPr/>
        </p:nvSpPr>
        <p:spPr>
          <a:xfrm>
            <a:off x="1643743" y="5921829"/>
            <a:ext cx="275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 Positives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3780-4762-E539-53F3-A4DCE06B831E}"/>
              </a:ext>
            </a:extLst>
          </p:cNvPr>
          <p:cNvSpPr txBox="1"/>
          <p:nvPr/>
        </p:nvSpPr>
        <p:spPr>
          <a:xfrm>
            <a:off x="7445829" y="5921829"/>
            <a:ext cx="264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535119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6CF9-E8BB-881F-FAA4-9A92E7AD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B02B-42A5-1221-D675-E2A66C11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</a:t>
            </a:r>
            <a:r>
              <a:rPr lang="en-US" dirty="0" err="1"/>
              <a:t>Keypoint</a:t>
            </a:r>
            <a:r>
              <a:rPr lang="en-US" dirty="0"/>
              <a:t>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0B746-E61C-C3F6-AC11-46DDD6E69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18063"/>
            <a:ext cx="4942114" cy="379519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300W Dataset was used for training our model for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68 landmark points were present out of which 20 were used.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for both eyes and 8 for mouth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ResNet-18 backbone trained on 600 images with IMAGENET1k pretrained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used: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Loss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Aware Loss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3D3FE3-10F7-F61A-CD15-30CF2FA24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18395"/>
            <a:ext cx="5471976" cy="2981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0FD0794A-BDD6-4691-7DA7-578B99020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700855"/>
            <a:ext cx="3799214" cy="11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79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28FB-9EEF-EB3D-A4DF-AEB069F75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5872B-6AA1-4407-BC82-AFAAAB78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20-Keypoints Detection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FD43D9-8714-B270-AA5B-C596D59AE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182" y="1857002"/>
            <a:ext cx="9567636" cy="1664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A86D4-3446-8F25-74B1-50054BCF7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181" y="3802833"/>
            <a:ext cx="9536471" cy="16648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43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37D7-F74A-52A8-C9F4-58EE78200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39B5-3790-1F37-E89F-5A0E9194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Feature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2A051-72DA-4488-A621-88C6F9895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EAR &amp; MAR using the classical geometric formulas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 model checkpoint loaded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EAR/MAR computed per frame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to second mapping created based on filenames of NTHU-DDD</a:t>
            </a:r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57BE6DD-671B-2B5C-3D1E-C6951AC57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12" y="4689968"/>
            <a:ext cx="7320834" cy="1262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76903E-FFD9-E002-FF14-CD908B2CED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131" y="1634576"/>
            <a:ext cx="4720298" cy="28394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810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AE0E-D9D0-062E-9E61-DF392CC13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EC80E-6CA0-98FB-FFA9-B2CB6CB4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Classification Performance</a:t>
            </a:r>
          </a:p>
        </p:txBody>
      </p:sp>
      <p:pic>
        <p:nvPicPr>
          <p:cNvPr id="5" name="Content Placeholder 4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26A140D6-2535-F9AA-CCD2-E8A165F33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05521" y="2109216"/>
            <a:ext cx="5322960" cy="14876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685969-F8C9-754E-81D8-A2FF9E4BC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303" y="1664149"/>
            <a:ext cx="3852363" cy="22259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FEA969-14CB-76B0-82D3-3A254F3E73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65" y="4080889"/>
            <a:ext cx="3658301" cy="22259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970372-373F-E0D2-E675-7CC787EA122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21802"/>
            <a:ext cx="3441891" cy="214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17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C1F4-E1BB-0757-761F-230648BF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0586A-5881-A0D1-0463-82B3E4EE4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4: Temporal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76364-FF76-0EB7-A6D1-188D5067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outputs fed into 5-second sliding windows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chosen after comparing LR, SVM, GB, LSTM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ResNet18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checkpoint, temporal features vector was build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Cross Entropy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 Impurity for Random Forest Splits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72AA039-4962-DAFB-CFED-A4F475936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678" y="3577125"/>
            <a:ext cx="6161475" cy="221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82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C9C2-8BAB-2D05-C009-B6AF5AF7D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A21E-4201-AD21-BF69-124188EF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4: Final Model and Logistic Regression</a:t>
            </a:r>
          </a:p>
        </p:txBody>
      </p:sp>
      <p:pic>
        <p:nvPicPr>
          <p:cNvPr id="4" name="PERSON_005_AWAKE_005_glasses_nonsleepyCombinati">
            <a:hlinkClick r:id="" action="ppaction://media"/>
            <a:extLst>
              <a:ext uri="{FF2B5EF4-FFF2-40B4-BE49-F238E27FC236}">
                <a16:creationId xmlns:a16="http://schemas.microsoft.com/office/drawing/2014/main" id="{5FF6C4A2-F284-649E-6BA0-41E0B95162B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30600" y="2103438"/>
            <a:ext cx="5130800" cy="3849687"/>
          </a:xfrm>
        </p:spPr>
      </p:pic>
    </p:spTree>
    <p:extLst>
      <p:ext uri="{BB962C8B-B14F-4D97-AF65-F5344CB8AC3E}">
        <p14:creationId xmlns:p14="http://schemas.microsoft.com/office/powerpoint/2010/main" val="293416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760C4-7680-2C53-6EB8-FF8A637B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3B95-4C08-FBA4-5D7F-E511BD0E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and LSTM Comparison</a:t>
            </a:r>
          </a:p>
        </p:txBody>
      </p:sp>
      <p:pic>
        <p:nvPicPr>
          <p:cNvPr id="4" name="VIDEO_BOTH_005_glasses_nonsleepyCombinati">
            <a:hlinkClick r:id="" action="ppaction://media"/>
            <a:extLst>
              <a:ext uri="{FF2B5EF4-FFF2-40B4-BE49-F238E27FC236}">
                <a16:creationId xmlns:a16="http://schemas.microsoft.com/office/drawing/2014/main" id="{1CC2FEDA-9F1F-D3CE-C960-F9C78E183CE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3976" y="2014194"/>
            <a:ext cx="5130800" cy="3849687"/>
          </a:xfrm>
        </p:spPr>
      </p:pic>
      <p:pic>
        <p:nvPicPr>
          <p:cNvPr id="5" name="VIDEO_BOTH_005_glasses_sleepyCombination_">
            <a:hlinkClick r:id="" action="ppaction://media"/>
            <a:extLst>
              <a:ext uri="{FF2B5EF4-FFF2-40B4-BE49-F238E27FC236}">
                <a16:creationId xmlns:a16="http://schemas.microsoft.com/office/drawing/2014/main" id="{1DE2EDF3-7E14-F989-80E6-EE4A95B3853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37225" y="2014614"/>
            <a:ext cx="5130799" cy="38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09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90933-8F3E-FA10-5E87-0974F23AD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6A52-1E59-9094-9E77-D432B764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7D8E-9A2E-10A5-0D15-5B68C1374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Loss + Smooth L1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because dense detectors suffer from anchor imbalance; Smooth L1 Stabilizes box regression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+ Confidence Aware Loss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 is standard for coordinate regression; confidence modeling improves reliability and downstream geometric estimation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BCE for eyes/yawn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Loss for binary probabilistic outputs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BCE/Gini Impurity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classification requires threshold calibrated probabilities; RF’s Gini impurity behaves like a regularized version of BCE</a:t>
            </a:r>
          </a:p>
        </p:txBody>
      </p:sp>
    </p:spTree>
    <p:extLst>
      <p:ext uri="{BB962C8B-B14F-4D97-AF65-F5344CB8AC3E}">
        <p14:creationId xmlns:p14="http://schemas.microsoft.com/office/powerpoint/2010/main" val="1584784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D11B-CB63-1CF1-BBB7-3C8C2E3BDE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3561844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{4622737E-F9E6-4E5E-9EF2-19A59BBA6286}TF029381d7-1900-4cf6-a601-bb0184aacdbaf0338e59_win32-4b933ff3c21f</Template>
  <TotalTime>1014</TotalTime>
  <Words>1599</Words>
  <Application>Microsoft Office PowerPoint</Application>
  <PresentationFormat>Widescreen</PresentationFormat>
  <Paragraphs>103</Paragraphs>
  <Slides>13</Slides>
  <Notes>9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Garamond</vt:lpstr>
      <vt:lpstr>Sagona Book</vt:lpstr>
      <vt:lpstr>Sagona ExtraLight</vt:lpstr>
      <vt:lpstr>Times New Roman</vt:lpstr>
      <vt:lpstr>SavonVTI</vt:lpstr>
      <vt:lpstr> DROWSINESS DETECTION SYSTEM  Aryan Meena U41361555 </vt:lpstr>
      <vt:lpstr>System Pipeline</vt:lpstr>
      <vt:lpstr>Task 1: Face Detection (RetinaFace)</vt:lpstr>
      <vt:lpstr>TOP FN &amp; FP Cases</vt:lpstr>
      <vt:lpstr>Task 2: Keypoint Detection</vt:lpstr>
      <vt:lpstr>20-Keypoints Detection</vt:lpstr>
      <vt:lpstr>Task 3: Feature Extraction</vt:lpstr>
      <vt:lpstr>Task 3: Classification Performance</vt:lpstr>
      <vt:lpstr>Task 4: Temporal Modeling</vt:lpstr>
      <vt:lpstr>Task 4: Final Model and Logistic Regression</vt:lpstr>
      <vt:lpstr>Random Forest and LSTM Comparison</vt:lpstr>
      <vt:lpstr>Loss Function Summary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SINGH</dc:creator>
  <cp:lastModifiedBy>ARYAN SINGH</cp:lastModifiedBy>
  <cp:revision>1</cp:revision>
  <dcterms:created xsi:type="dcterms:W3CDTF">2025-12-10T03:24:58Z</dcterms:created>
  <dcterms:modified xsi:type="dcterms:W3CDTF">2025-12-10T20:21:03Z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